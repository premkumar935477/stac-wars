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2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10/25/2026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930558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430078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310043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563546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921245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5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66889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9038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9313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16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1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3.jpe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7479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389033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14220053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790910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664620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136188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776469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27959945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6609265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3751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671683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0E5A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8" name="图片" descr="preencoded.png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0" y="0"/>
            <a:ext cx="12191694" cy="6858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90357774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0F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19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1076875" y="6558991"/>
            <a:ext cx="1071842" cy="25603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14058986"/>
      </p:ext>
    </p:extLst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0E5A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120" name="图片" descr="preencoded.png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2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0" y="0"/>
            <a:ext cx="12191694" cy="6858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55852617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307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E5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/>
          <p:cNvSpPr>
            <a:spLocks/>
          </p:cNvSpPr>
          <p:nvPr/>
        </p:nvSpPr>
        <p:spPr>
          <a:xfrm rot="0">
            <a:off x="685783" y="863600"/>
            <a:ext cx="5968850" cy="5003799"/>
          </a:xfrm>
          <a:prstGeom prst="rect"/>
          <a:solidFill>
            <a:srgbClr val="0F2B2A">
              <a:alpha val="94000"/>
            </a:srgbClr>
          </a:solidFill>
          <a:ln w="12700" cmpd="sng" cap="flat">
            <a:noFill/>
            <a:prstDash val="solid"/>
            <a:miter/>
          </a:ln>
        </p:spPr>
      </p:sp>
      <p:sp>
        <p:nvSpPr>
          <p:cNvPr id="10" name="矩形"/>
          <p:cNvSpPr>
            <a:spLocks/>
          </p:cNvSpPr>
          <p:nvPr/>
        </p:nvSpPr>
        <p:spPr>
          <a:xfrm rot="0">
            <a:off x="685783" y="863600"/>
            <a:ext cx="5968850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11" name="矩形"/>
          <p:cNvSpPr>
            <a:spLocks/>
          </p:cNvSpPr>
          <p:nvPr/>
        </p:nvSpPr>
        <p:spPr>
          <a:xfrm rot="0">
            <a:off x="1117572" y="1282700"/>
            <a:ext cx="1890268" cy="328115"/>
          </a:xfrm>
          <a:prstGeom prst="rect"/>
          <a:solidFill>
            <a:srgbClr val="FF7F5C"/>
          </a:solidFill>
          <a:ln w="12700" cmpd="sng" cap="flat">
            <a:noFill/>
            <a:prstDash val="solid"/>
            <a:miter/>
          </a:ln>
        </p:spPr>
      </p:sp>
      <p:sp>
        <p:nvSpPr>
          <p:cNvPr id="12" name="矩形"/>
          <p:cNvSpPr>
            <a:spLocks/>
          </p:cNvSpPr>
          <p:nvPr/>
        </p:nvSpPr>
        <p:spPr>
          <a:xfrm rot="0">
            <a:off x="1238417" y="1353220"/>
            <a:ext cx="2258162" cy="2072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00" cap="none" spc="14" baseline="0">
                <a:solidFill>
                  <a:srgbClr val="000000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STAC WARS — PS4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1117572" y="2061667"/>
            <a:ext cx="5105272" cy="1422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200" b="0" i="0" u="none" strike="noStrike" kern="100" cap="none" spc="-168" baseline="0">
                <a:solidFill>
                  <a:srgbClr val="FFFFFF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ASTRA</a:t>
            </a:r>
            <a:endParaRPr lang="zh-CN" altLang="en-US" sz="1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1117572" y="3544647"/>
            <a:ext cx="5105272" cy="2921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The asteroid that pays for its own mining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1117572" y="3978890"/>
            <a:ext cx="5105272" cy="6260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FFFFF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 modular, reusable resource supply network for the space economy.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1117572" y="4786729"/>
            <a:ext cx="5105272" cy="4800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Mining the Asteroid Belt · IIT Mandi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Team: [Team name] · Members: [Names]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251912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 rot="0">
            <a:off x="457189" y="457200"/>
            <a:ext cx="11734507" cy="213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00" cap="none" spc="14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SYSTEM ARCHITECTURE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457189" y="783931"/>
            <a:ext cx="11277318" cy="10134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800" b="0" i="0" u="none" strike="noStrike" kern="100" cap="none" spc="-38" baseline="0">
                <a:solidFill>
                  <a:srgbClr val="F3F1E8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One carrier. Replaceable modules. Multiple missions.</a:t>
            </a:r>
            <a:endParaRPr lang="zh-CN" altLang="en-US" sz="3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 rot="0">
            <a:off x="457189" y="1962863"/>
            <a:ext cx="11734507" cy="3130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ASTRA separates reusable carrier from mining hardware: a failed pod does not end the mission.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457189" y="2457469"/>
            <a:ext cx="5049413" cy="3212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Carrier + replaceable pod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457189" y="2915146"/>
            <a:ext cx="5049413" cy="29316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Solar arrays power avionics, communications, autonomy, and processing; an onboard health/energy/navigation computer supports operations. Anchoring, navigation, and low-force contact manage weak-gravity operations.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Containment, cold collection, purification, and storage turn vapour into saleable water. Hydrogen–oxygen propellant production is a later upgrade, not a first-mission requirement.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5963691" y="2451001"/>
            <a:ext cx="2733010" cy="1606451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26" name="矩形"/>
          <p:cNvSpPr>
            <a:spLocks/>
          </p:cNvSpPr>
          <p:nvPr/>
        </p:nvSpPr>
        <p:spPr>
          <a:xfrm rot="0">
            <a:off x="5963691" y="2451001"/>
            <a:ext cx="2733010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27" name="矩形"/>
          <p:cNvSpPr>
            <a:spLocks/>
          </p:cNvSpPr>
          <p:nvPr/>
        </p:nvSpPr>
        <p:spPr>
          <a:xfrm rot="0">
            <a:off x="6192286" y="2691309"/>
            <a:ext cx="733703" cy="2793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7FD8C4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1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6468800" y="2722498"/>
            <a:ext cx="1999306" cy="2482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Asteroid material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6468800" y="3115489"/>
            <a:ext cx="1999306" cy="7200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Concentrated sunlight supplies thermal energy for extraction.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9001495" y="2451001"/>
            <a:ext cx="2733011" cy="1606451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31" name="矩形"/>
          <p:cNvSpPr>
            <a:spLocks/>
          </p:cNvSpPr>
          <p:nvPr/>
        </p:nvSpPr>
        <p:spPr>
          <a:xfrm rot="0">
            <a:off x="9001495" y="2451001"/>
            <a:ext cx="2733011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32" name="矩形"/>
          <p:cNvSpPr>
            <a:spLocks/>
          </p:cNvSpPr>
          <p:nvPr/>
        </p:nvSpPr>
        <p:spPr>
          <a:xfrm rot="0">
            <a:off x="9230089" y="2691309"/>
            <a:ext cx="769421" cy="2793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7FD8C4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2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9542323" y="2722498"/>
            <a:ext cx="1963589" cy="2482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Vapour capture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 rot="0">
            <a:off x="9542323" y="3115489"/>
            <a:ext cx="1963589" cy="4800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Contain vapour; condense it.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 rot="0">
            <a:off x="5963691" y="4362252"/>
            <a:ext cx="2733010" cy="1366440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36" name="矩形"/>
          <p:cNvSpPr>
            <a:spLocks/>
          </p:cNvSpPr>
          <p:nvPr/>
        </p:nvSpPr>
        <p:spPr>
          <a:xfrm rot="0">
            <a:off x="5963691" y="4362252"/>
            <a:ext cx="2733010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37" name="矩形"/>
          <p:cNvSpPr>
            <a:spLocks/>
          </p:cNvSpPr>
          <p:nvPr/>
        </p:nvSpPr>
        <p:spPr>
          <a:xfrm rot="0">
            <a:off x="6192286" y="4602559"/>
            <a:ext cx="771406" cy="2793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7FD8C4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3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矩形"/>
          <p:cNvSpPr>
            <a:spLocks/>
          </p:cNvSpPr>
          <p:nvPr/>
        </p:nvSpPr>
        <p:spPr>
          <a:xfrm rot="0">
            <a:off x="6506504" y="4633749"/>
            <a:ext cx="1961605" cy="2482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Purification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6506504" y="5026739"/>
            <a:ext cx="2190198" cy="2400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Purify and store water.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 rot="0">
            <a:off x="9001495" y="4362252"/>
            <a:ext cx="2733011" cy="1366440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41" name="矩形"/>
          <p:cNvSpPr>
            <a:spLocks/>
          </p:cNvSpPr>
          <p:nvPr/>
        </p:nvSpPr>
        <p:spPr>
          <a:xfrm rot="0">
            <a:off x="9001495" y="4362252"/>
            <a:ext cx="2733011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42" name="矩形"/>
          <p:cNvSpPr>
            <a:spLocks/>
          </p:cNvSpPr>
          <p:nvPr/>
        </p:nvSpPr>
        <p:spPr>
          <a:xfrm rot="0">
            <a:off x="9230089" y="4602559"/>
            <a:ext cx="783113" cy="2793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rgbClr val="7FD8C4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4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9556015" y="4633749"/>
            <a:ext cx="1949897" cy="2482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Delivery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矩形"/>
          <p:cNvSpPr>
            <a:spLocks/>
          </p:cNvSpPr>
          <p:nvPr/>
        </p:nvSpPr>
        <p:spPr>
          <a:xfrm rot="0">
            <a:off x="9556015" y="5026739"/>
            <a:ext cx="1949897" cy="4800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Saleable water to customer.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5963691" y="5849660"/>
            <a:ext cx="5770815" cy="2400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BFBA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Replaceable pod interface.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文本框"/>
          <p:cNvSpPr txBox="1">
            <a:spLocks/>
          </p:cNvSpPr>
          <p:nvPr/>
        </p:nvSpPr>
        <p:spPr>
          <a:xfrm rot="0">
            <a:off x="5517972" y="2862219"/>
            <a:ext cx="1133457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104524688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"/>
          <p:cNvSpPr>
            <a:spLocks/>
          </p:cNvSpPr>
          <p:nvPr/>
        </p:nvSpPr>
        <p:spPr>
          <a:xfrm rot="0">
            <a:off x="457189" y="457200"/>
            <a:ext cx="11734507" cy="213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00" cap="none" spc="14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OPERATING LOOP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 rot="0">
            <a:off x="457189" y="783931"/>
            <a:ext cx="11277318" cy="5067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800" b="0" i="0" u="none" strike="noStrike" kern="100" cap="none" spc="-38" baseline="0">
                <a:solidFill>
                  <a:srgbClr val="F3F1E8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A closed-loop resource supply chain</a:t>
            </a:r>
            <a:endParaRPr lang="zh-CN" altLang="en-US" sz="3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" name="矩形"/>
          <p:cNvSpPr>
            <a:spLocks/>
          </p:cNvSpPr>
          <p:nvPr/>
        </p:nvSpPr>
        <p:spPr>
          <a:xfrm rot="0">
            <a:off x="457189" y="1456154"/>
            <a:ext cx="11734507" cy="3130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ASTRA connects prospecting, extraction, processing, delivery, and reuse into one operating system.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457189" y="1944291"/>
            <a:ext cx="6492117" cy="30205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5440" indent="-34544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Prospect: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map composition, accessible water, surface hazards, rotation, and transfer requirements.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5440" indent="-34544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2"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Extract: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concentrate sunlight on suitable water-bearing material.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5440" indent="-34544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3"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Capture: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contain, condense, collect, purify, and test the water.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5440" indent="-34544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4"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Deliver: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store and move it to a compatible customer or depot.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5440" indent="-34544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Tx/>
              <a:buAutoNum type="arabicPeriod" startAt="5"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Reuse: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inspect the carrier, replace worn modules, and prepare the next mission.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矩形"/>
          <p:cNvSpPr>
            <a:spLocks/>
          </p:cNvSpPr>
          <p:nvPr/>
        </p:nvSpPr>
        <p:spPr>
          <a:xfrm rot="0">
            <a:off x="7406395" y="1950758"/>
            <a:ext cx="4328111" cy="3212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Critical challenges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7406395" y="2411135"/>
            <a:ext cx="4328111" cy="93910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Weak-gravity anchoring, uncertain water accessibility, heat management, vapour containment, and autonomous operation.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" name="圆角矩形"/>
          <p:cNvSpPr>
            <a:spLocks/>
          </p:cNvSpPr>
          <p:nvPr/>
        </p:nvSpPr>
        <p:spPr>
          <a:xfrm rot="0">
            <a:off x="7406395" y="3514229"/>
            <a:ext cx="4328012" cy="31651"/>
          </a:xfrm>
          <a:prstGeom prst="roundRect">
            <a:avLst>
              <a:gd name="adj" fmla="val 50000"/>
            </a:avLst>
          </a:prstGeom>
          <a:solidFill>
            <a:srgbClr val="2F5553"/>
          </a:solidFill>
          <a:ln w="12700" cmpd="sng" cap="flat">
            <a:noFill/>
            <a:prstDash val="solid"/>
            <a:miter/>
          </a:ln>
        </p:spPr>
      </p:sp>
      <p:sp>
        <p:nvSpPr>
          <p:cNvPr id="55" name="矩形"/>
          <p:cNvSpPr>
            <a:spLocks/>
          </p:cNvSpPr>
          <p:nvPr/>
        </p:nvSpPr>
        <p:spPr>
          <a:xfrm rot="0">
            <a:off x="7406395" y="3782634"/>
            <a:ext cx="4328111" cy="3212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Fault path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7406395" y="4243010"/>
            <a:ext cx="4328111" cy="6260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Detect → isolate → safe mode or backup → repair or replace.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7406395" y="4987350"/>
            <a:ext cx="4328111" cy="4800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BFBA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Proposed architecture requiring staged testing, not a demonstrated commercial capability.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2088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"/>
          <p:cNvSpPr>
            <a:spLocks/>
          </p:cNvSpPr>
          <p:nvPr/>
        </p:nvSpPr>
        <p:spPr>
          <a:xfrm rot="0">
            <a:off x="457189" y="465916"/>
            <a:ext cx="11734507" cy="1936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00" cap="none" spc="13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COST DESIGN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" name="矩形"/>
          <p:cNvSpPr>
            <a:spLocks/>
          </p:cNvSpPr>
          <p:nvPr/>
        </p:nvSpPr>
        <p:spPr>
          <a:xfrm rot="0">
            <a:off x="457189" y="748567"/>
            <a:ext cx="11277318" cy="4600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50" b="0" i="0" u="none" strike="noStrike" kern="100" cap="none" spc="-35" baseline="0">
                <a:solidFill>
                  <a:srgbClr val="F3F1E8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Design out the biggest costs</a:t>
            </a:r>
            <a:endParaRPr lang="zh-CN" altLang="en-US" sz="3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" name="矩形"/>
          <p:cNvSpPr>
            <a:spLocks/>
          </p:cNvSpPr>
          <p:nvPr/>
        </p:nvSpPr>
        <p:spPr>
          <a:xfrm rot="0">
            <a:off x="457189" y="1342199"/>
            <a:ext cx="11277318" cy="5423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ASTRA attacks cost through mass discipline, staged processing, reuse, and local delivery—not through unvalidated savings claims.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63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457189" y="2027436"/>
          <a:ext cx="11277318" cy="9144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29840"/>
                <a:gridCol w="5300307"/>
                <a:gridCol w="3947096"/>
              </a:tblGrid>
              <a:tr h="48069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1" i="0" u="none" strike="noStrike" kern="1200" cap="none" spc="0" baseline="0">
                          <a:solidFill>
                            <a:srgbClr val="A9BFBA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Cost pressure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1" i="0" u="none" strike="noStrike" kern="1200" cap="none" spc="0" baseline="0">
                          <a:solidFill>
                            <a:srgbClr val="A9BFBA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Design response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1" i="0" u="none" strike="noStrike" kern="1200" cap="none" spc="0" baseline="0">
                          <a:solidFill>
                            <a:srgbClr val="A9BFBA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What must be validated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02300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1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Transport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Lightweight carrier, efficient transfer planning, reusable hardware, and water delivered in space rather than returned to Earth.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Mass estimates, transfer simulations, and delivered-cost analysis.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02300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1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Extraction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Solar-thermal processing where composition and environment make it suitable, with modular equipment instead of a heavy custom plant.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Composition, environment, and extraction tests.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023007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1" i="0" u="none" strike="noStrike" kern="1200" cap="none" spc="0" baseline="0">
                          <a:solidFill>
                            <a:srgbClr val="F3F1E8"/>
                          </a:solidFill>
                          <a:latin typeface="Bitter" pitchFamily="34" charset="0"/>
                          <a:ea typeface="Bitter" pitchFamily="34" charset="0"/>
                          <a:cs typeface="Bitter" pitchFamily="34" charset="0"/>
                        </a:rPr>
                        <a:t>Failure and downtime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Bitter" pitchFamily="34" charset="0"/>
                        <a:ea typeface="Bitter" pitchFamily="34" charset="0"/>
                        <a:cs typeface="Bitter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1" i="0" u="none" strike="noStrike" kern="1200" cap="none" spc="0" baseline="0">
                          <a:solidFill>
                            <a:srgbClr val="F3F1E8"/>
                          </a:solidFill>
                          <a:latin typeface="Bitter" pitchFamily="34" charset="0"/>
                          <a:ea typeface="Bitter" pitchFamily="34" charset="0"/>
                          <a:cs typeface="Bitter" pitchFamily="34" charset="0"/>
                        </a:rPr>
                        <a:t>Prospect first, isolate failed pods, use redundant critical electronics, and replace modules where feasible.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Bitter" pitchFamily="34" charset="0"/>
                        <a:ea typeface="Bitter" pitchFamily="34" charset="0"/>
                        <a:cs typeface="Bitter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50" b="1" i="0" u="none" strike="noStrike" kern="1200" cap="none" spc="0" baseline="0">
                          <a:solidFill>
                            <a:srgbClr val="F3F1E8"/>
                          </a:solidFill>
                          <a:latin typeface="Bitter" pitchFamily="34" charset="0"/>
                          <a:ea typeface="Bitter" pitchFamily="34" charset="0"/>
                          <a:cs typeface="Bitter" pitchFamily="34" charset="0"/>
                        </a:rPr>
                        <a:t>Reliability, recovery, and repair assumptions.</a:t>
                      </a:r>
                      <a:endParaRPr lang="zh-CN" altLang="en-US" sz="1550" b="0" i="0" u="none" strike="noStrike" kern="1200" cap="none" spc="0" baseline="0">
                        <a:solidFill>
                          <a:schemeClr val="tx1"/>
                        </a:solidFill>
                        <a:latin typeface="Bitter" pitchFamily="34" charset="0"/>
                        <a:ea typeface="Bitter" pitchFamily="34" charset="0"/>
                        <a:cs typeface="Bitter" pitchFamily="34" charset="0"/>
                      </a:endParaRPr>
                    </a:p>
                  </a:txBody>
                  <a:tcPr marL="152387" marT="101587" marR="152387" marB="101587" vert="horz" anchor="ctr">
                    <a:lnL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F2B2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" name="矩形"/>
          <p:cNvSpPr>
            <a:spLocks/>
          </p:cNvSpPr>
          <p:nvPr/>
        </p:nvSpPr>
        <p:spPr>
          <a:xfrm rot="0">
            <a:off x="457189" y="5727470"/>
            <a:ext cx="11277318" cy="5423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Design shifts:</a:t>
            </a:r>
            <a:r>
              <a:rPr lang="en-US" altLang="zh-CN" sz="155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One-off mission → reusable carrier · Full custom plant → replaceable modules · Unverified asteroid → prospect before mining · Earth-return cargo → local resource delivery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 rot="0">
            <a:off x="457189" y="6415368"/>
            <a:ext cx="11277318" cy="4357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A9BFBA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Assumption: the cost advantage is a design objective to validate through mass estimates, mission simulations, extraction tests, and delivered-cost analysis.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398488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"/>
          <p:cNvSpPr>
            <a:spLocks/>
          </p:cNvSpPr>
          <p:nvPr/>
        </p:nvSpPr>
        <p:spPr>
          <a:xfrm rot="0">
            <a:off x="457189" y="457200"/>
            <a:ext cx="11734507" cy="213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00" cap="none" spc="14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COMMERCIAL MODEL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457189" y="783931"/>
            <a:ext cx="11277318" cy="5067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800" b="0" i="0" u="none" strike="noStrike" kern="100" cap="none" spc="-38" baseline="0">
                <a:solidFill>
                  <a:srgbClr val="F3F1E8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Sell the resource where it has value</a:t>
            </a:r>
            <a:endParaRPr lang="zh-CN" altLang="en-US" sz="3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" name="矩形"/>
          <p:cNvSpPr>
            <a:spLocks/>
          </p:cNvSpPr>
          <p:nvPr/>
        </p:nvSpPr>
        <p:spPr>
          <a:xfrm rot="0">
            <a:off x="457189" y="1456154"/>
            <a:ext cx="11734507" cy="3130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ASTRA is a space-resource logistics business, not simply a company that sells mined rocks.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" name="矩形"/>
          <p:cNvSpPr>
            <a:spLocks/>
          </p:cNvSpPr>
          <p:nvPr/>
        </p:nvSpPr>
        <p:spPr>
          <a:xfrm rot="0">
            <a:off x="457189" y="1944291"/>
            <a:ext cx="3555911" cy="2837656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72" name="矩形"/>
          <p:cNvSpPr>
            <a:spLocks/>
          </p:cNvSpPr>
          <p:nvPr/>
        </p:nvSpPr>
        <p:spPr>
          <a:xfrm rot="0">
            <a:off x="457189" y="1944291"/>
            <a:ext cx="3555911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73" name="矩形"/>
          <p:cNvSpPr>
            <a:spLocks/>
          </p:cNvSpPr>
          <p:nvPr/>
        </p:nvSpPr>
        <p:spPr>
          <a:xfrm rot="0">
            <a:off x="685783" y="2217459"/>
            <a:ext cx="3098721" cy="3212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Products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" name="矩形"/>
          <p:cNvSpPr>
            <a:spLocks/>
          </p:cNvSpPr>
          <p:nvPr/>
        </p:nvSpPr>
        <p:spPr>
          <a:xfrm rot="0">
            <a:off x="685783" y="2677835"/>
            <a:ext cx="3098721" cy="18782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Phase 1: purified water; Phase 2: hydrogen and oxygen propellant after demand and processing are proven; Phase 3: shared storage and distribution.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" name="矩形"/>
          <p:cNvSpPr>
            <a:spLocks/>
          </p:cNvSpPr>
          <p:nvPr/>
        </p:nvSpPr>
        <p:spPr>
          <a:xfrm rot="0">
            <a:off x="4317892" y="1944291"/>
            <a:ext cx="3555911" cy="2837656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76" name="矩形"/>
          <p:cNvSpPr>
            <a:spLocks/>
          </p:cNvSpPr>
          <p:nvPr/>
        </p:nvSpPr>
        <p:spPr>
          <a:xfrm rot="0">
            <a:off x="4317892" y="1944291"/>
            <a:ext cx="3555911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77" name="矩形"/>
          <p:cNvSpPr>
            <a:spLocks/>
          </p:cNvSpPr>
          <p:nvPr/>
        </p:nvSpPr>
        <p:spPr>
          <a:xfrm rot="0">
            <a:off x="4546486" y="2217459"/>
            <a:ext cx="3098721" cy="3212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Prospective customers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 rot="0">
            <a:off x="4546486" y="2677835"/>
            <a:ext cx="3098721" cy="18782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Government exploration programs; commercial spacecraft operators; lunar infrastructure operators; buyers of prospecting services.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 rot="0">
            <a:off x="8178594" y="1944291"/>
            <a:ext cx="3555911" cy="2837656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80" name="矩形"/>
          <p:cNvSpPr>
            <a:spLocks/>
          </p:cNvSpPr>
          <p:nvPr/>
        </p:nvSpPr>
        <p:spPr>
          <a:xfrm rot="0">
            <a:off x="8178594" y="1944291"/>
            <a:ext cx="3555911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81" name="矩形"/>
          <p:cNvSpPr>
            <a:spLocks/>
          </p:cNvSpPr>
          <p:nvPr/>
        </p:nvSpPr>
        <p:spPr>
          <a:xfrm rot="0">
            <a:off x="8407190" y="2217459"/>
            <a:ext cx="3098722" cy="3212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Revenue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" name="矩形"/>
          <p:cNvSpPr>
            <a:spLocks/>
          </p:cNvSpPr>
          <p:nvPr/>
        </p:nvSpPr>
        <p:spPr>
          <a:xfrm rot="0">
            <a:off x="8407190" y="2677835"/>
            <a:ext cx="3098722" cy="15651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Water per delivered kilogram; refuelling services; storage and handling fees; paid asteroid-characterisation contracts.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 rot="0">
            <a:off x="457189" y="4962446"/>
            <a:ext cx="11277318" cy="6260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Commercial flow: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prospecting contract → resource discovery → extraction mission → water delivery → recurring service revenue → future missions.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457189" y="5770285"/>
            <a:ext cx="11734507" cy="2400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9BFBA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Select the first market from verified demand and the cost of competing supply, not from an assumed market size.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863984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"/>
          <p:cNvSpPr>
            <a:spLocks/>
          </p:cNvSpPr>
          <p:nvPr/>
        </p:nvSpPr>
        <p:spPr>
          <a:xfrm rot="0">
            <a:off x="457189" y="457200"/>
            <a:ext cx="11734507" cy="213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00" cap="none" spc="14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ILLUSTRATIVE SCENARIO — NOT VALIDATED MARKET PRICES OR FORECASTS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 rot="0">
            <a:off x="457189" y="783931"/>
            <a:ext cx="11277318" cy="5067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800" b="0" i="0" u="none" strike="noStrike" kern="100" cap="none" spc="-38" baseline="0">
                <a:solidFill>
                  <a:srgbClr val="F3F1E8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Prove the economics before scaling</a:t>
            </a:r>
            <a:endParaRPr lang="zh-CN" altLang="en-US" sz="3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矩形"/>
          <p:cNvSpPr>
            <a:spLocks/>
          </p:cNvSpPr>
          <p:nvPr/>
        </p:nvSpPr>
        <p:spPr>
          <a:xfrm rot="0">
            <a:off x="457189" y="1453455"/>
            <a:ext cx="5486263" cy="4907657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90" name="矩形"/>
          <p:cNvSpPr>
            <a:spLocks/>
          </p:cNvSpPr>
          <p:nvPr/>
        </p:nvSpPr>
        <p:spPr>
          <a:xfrm rot="0">
            <a:off x="457189" y="1453455"/>
            <a:ext cx="5486263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graphicFrame>
        <p:nvGraphicFramePr>
          <p:cNvPr id="91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685783" y="1720155"/>
          <a:ext cx="5029074" cy="914399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3268853"/>
                <a:gridCol w="1760182"/>
              </a:tblGrid>
              <a:tr h="4349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Illustrative input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Value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</a:tr>
              <a:tr h="4349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Saleable water per year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100,000 kg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</a:tr>
              <a:tr h="4349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Assumed selling price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$1,000/kg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</a:tr>
              <a:tr h="4349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Annual revenue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$100M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</a:tr>
              <a:tr h="4349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Operating costs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$40M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</a:tr>
              <a:tr h="4349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Annualised capital recovery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0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$40M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</a:tr>
              <a:tr h="4349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Illustrative surplus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$20M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</a:tr>
              <a:tr h="428608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Break-even price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500" b="1" i="0" u="none" strike="noStrike" kern="1200" cap="none" spc="0" baseline="0">
                          <a:solidFill>
                            <a:srgbClr val="F3F1E8"/>
                          </a:solidFill>
                          <a:latin typeface="Public Sans" pitchFamily="34" charset="0"/>
                          <a:ea typeface="Public Sans" pitchFamily="34" charset="0"/>
                          <a:cs typeface="Public Sans" pitchFamily="34" charset="0"/>
                        </a:rPr>
                        <a:t>$800/kg</a:t>
                      </a:r>
                      <a:endParaRPr lang="zh-CN" altLang="en-US" sz="1500" b="0" i="0" u="none" strike="noStrike" kern="1200" cap="none" spc="0" baseline="0">
                        <a:solidFill>
                          <a:schemeClr val="tx1"/>
                        </a:solidFill>
                        <a:latin typeface="Public Sans" pitchFamily="34" charset="0"/>
                        <a:ea typeface="Public Sans" pitchFamily="34" charset="0"/>
                        <a:cs typeface="Public Sans" pitchFamily="34" charset="0"/>
                      </a:endParaRPr>
                    </a:p>
                  </a:txBody>
                  <a:tcPr marL="152387" marT="76187" marR="152387" marB="76187" vert="horz" anchor="ctr">
                    <a:lnL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2F5553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1A3D3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3D3B"/>
                    </a:solidFill>
                  </a:tcPr>
                </a:tc>
              </a:tr>
            </a:tbl>
          </a:graphicData>
        </a:graphic>
      </p:graphicFrame>
      <p:sp>
        <p:nvSpPr>
          <p:cNvPr id="92" name="矩形"/>
          <p:cNvSpPr>
            <a:spLocks/>
          </p:cNvSpPr>
          <p:nvPr/>
        </p:nvSpPr>
        <p:spPr>
          <a:xfrm rot="0">
            <a:off x="685783" y="5314572"/>
            <a:ext cx="5257668" cy="2400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Break-even price: ($40M + $40M) ÷ 100,000 kg = </a:t>
            </a:r>
            <a:r>
              <a:rPr lang="en-US" altLang="zh-CN" sz="14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$800/kg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 rot="0">
            <a:off x="6248244" y="1453455"/>
            <a:ext cx="5486263" cy="4907657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94" name="矩形"/>
          <p:cNvSpPr>
            <a:spLocks/>
          </p:cNvSpPr>
          <p:nvPr/>
        </p:nvSpPr>
        <p:spPr>
          <a:xfrm rot="0">
            <a:off x="6248244" y="1453455"/>
            <a:ext cx="5486263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95" name="矩形"/>
          <p:cNvSpPr>
            <a:spLocks/>
          </p:cNvSpPr>
          <p:nvPr/>
        </p:nvSpPr>
        <p:spPr>
          <a:xfrm rot="0">
            <a:off x="6476838" y="1726623"/>
            <a:ext cx="5029074" cy="3212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What can break the model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 rot="0">
            <a:off x="6476838" y="2186999"/>
            <a:ext cx="5029074" cy="9391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Accessible resource concentration, extraction efficiency, spacecraft mass, launch and transfer costs, mission life, demand and infrastructure.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圆角矩形"/>
          <p:cNvSpPr>
            <a:spLocks/>
          </p:cNvSpPr>
          <p:nvPr/>
        </p:nvSpPr>
        <p:spPr>
          <a:xfrm rot="0">
            <a:off x="6476838" y="3291681"/>
            <a:ext cx="1659590" cy="38100"/>
          </a:xfrm>
          <a:prstGeom prst="roundRect">
            <a:avLst>
              <a:gd name="adj" fmla="val 50000"/>
            </a:avLst>
          </a:prstGeom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98" name="矩形"/>
          <p:cNvSpPr>
            <a:spLocks/>
          </p:cNvSpPr>
          <p:nvPr/>
        </p:nvSpPr>
        <p:spPr>
          <a:xfrm rot="0">
            <a:off x="6476838" y="3568024"/>
            <a:ext cx="5029074" cy="3212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Evidence required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9" name="矩形"/>
          <p:cNvSpPr>
            <a:spLocks/>
          </p:cNvSpPr>
          <p:nvPr/>
        </p:nvSpPr>
        <p:spPr>
          <a:xfrm rot="0">
            <a:off x="6476838" y="4025702"/>
            <a:ext cx="5029074" cy="21068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Technical: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prospect first; enforce a minimum yield threshold.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Market: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secure customer commitments; benchmark competing supply.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Mission: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ground-test recovery; fly a small demonstration; use replaceable modules.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486787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F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"/>
          <p:cNvSpPr>
            <a:spLocks/>
          </p:cNvSpPr>
          <p:nvPr/>
        </p:nvSpPr>
        <p:spPr>
          <a:xfrm rot="0">
            <a:off x="457189" y="457200"/>
            <a:ext cx="11734507" cy="213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00" cap="none" spc="14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STAGED COMMERCIALISATION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3" name="矩形"/>
          <p:cNvSpPr>
            <a:spLocks/>
          </p:cNvSpPr>
          <p:nvPr/>
        </p:nvSpPr>
        <p:spPr>
          <a:xfrm rot="0">
            <a:off x="457189" y="783931"/>
            <a:ext cx="11277318" cy="50670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800" b="0" i="0" u="none" strike="noStrike" kern="100" cap="none" spc="-38" baseline="0">
                <a:solidFill>
                  <a:srgbClr val="F3F1E8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Scale only when the evidence compounds</a:t>
            </a:r>
            <a:endParaRPr lang="zh-CN" altLang="en-US" sz="3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矩形"/>
          <p:cNvSpPr>
            <a:spLocks/>
          </p:cNvSpPr>
          <p:nvPr/>
        </p:nvSpPr>
        <p:spPr>
          <a:xfrm rot="0">
            <a:off x="457189" y="1456154"/>
            <a:ext cx="11734507" cy="3130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ASTRA turns an uncertain mining idea into a staged investment decision.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矩形"/>
          <p:cNvSpPr>
            <a:spLocks/>
          </p:cNvSpPr>
          <p:nvPr/>
        </p:nvSpPr>
        <p:spPr>
          <a:xfrm rot="0">
            <a:off x="457189" y="1949088"/>
            <a:ext cx="5486263" cy="2482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Prospect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6" name="矩形"/>
          <p:cNvSpPr>
            <a:spLocks/>
          </p:cNvSpPr>
          <p:nvPr/>
        </p:nvSpPr>
        <p:spPr>
          <a:xfrm rot="0">
            <a:off x="457189" y="2338110"/>
            <a:ext cx="5486263" cy="3130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Characterise a target and quantify accessible water.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 rot="0">
            <a:off x="457189" y="2831044"/>
            <a:ext cx="5486263" cy="2482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Demonstrate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矩形"/>
          <p:cNvSpPr>
            <a:spLocks/>
          </p:cNvSpPr>
          <p:nvPr/>
        </p:nvSpPr>
        <p:spPr>
          <a:xfrm rot="0">
            <a:off x="457189" y="3220065"/>
            <a:ext cx="5486263" cy="3130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Recover, capture, purify, and test water at small scale.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矩形"/>
          <p:cNvSpPr>
            <a:spLocks/>
          </p:cNvSpPr>
          <p:nvPr/>
        </p:nvSpPr>
        <p:spPr>
          <a:xfrm rot="0">
            <a:off x="6248244" y="1949088"/>
            <a:ext cx="5486263" cy="2482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Validate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0" name="矩形"/>
          <p:cNvSpPr>
            <a:spLocks/>
          </p:cNvSpPr>
          <p:nvPr/>
        </p:nvSpPr>
        <p:spPr>
          <a:xfrm rot="0">
            <a:off x="6248244" y="2338110"/>
            <a:ext cx="5486263" cy="6260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Compare delivered cost with a real customer's alternative supply route.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矩形"/>
          <p:cNvSpPr>
            <a:spLocks/>
          </p:cNvSpPr>
          <p:nvPr/>
        </p:nvSpPr>
        <p:spPr>
          <a:xfrm rot="0">
            <a:off x="6248244" y="3144079"/>
            <a:ext cx="5486263" cy="24824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Repeat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 rot="0">
            <a:off x="6248244" y="3533099"/>
            <a:ext cx="5486263" cy="6260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Reuse the carrier, replace modules, and build the shared depot only when demand supports it.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矩形"/>
          <p:cNvSpPr>
            <a:spLocks/>
          </p:cNvSpPr>
          <p:nvPr/>
        </p:nvSpPr>
        <p:spPr>
          <a:xfrm rot="0">
            <a:off x="457189" y="4336971"/>
            <a:ext cx="11734507" cy="3130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Investment gates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· Resource yield → recovery reliability → delivered cost → paying demand → fleet scale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4" name="矩形"/>
          <p:cNvSpPr>
            <a:spLocks/>
          </p:cNvSpPr>
          <p:nvPr/>
        </p:nvSpPr>
        <p:spPr>
          <a:xfrm rot="0">
            <a:off x="457189" y="4825107"/>
            <a:ext cx="11277318" cy="1272480"/>
          </a:xfrm>
          <a:prstGeom prst="rect"/>
          <a:solidFill>
            <a:srgbClr val="1A3D3B"/>
          </a:solidFill>
          <a:ln w="12700" cmpd="sng" cap="flat">
            <a:noFill/>
            <a:prstDash val="solid"/>
            <a:miter/>
          </a:ln>
        </p:spPr>
      </p:sp>
      <p:sp>
        <p:nvSpPr>
          <p:cNvPr id="115" name="矩形"/>
          <p:cNvSpPr>
            <a:spLocks/>
          </p:cNvSpPr>
          <p:nvPr/>
        </p:nvSpPr>
        <p:spPr>
          <a:xfrm rot="0">
            <a:off x="457189" y="4825107"/>
            <a:ext cx="11277318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116" name="矩形"/>
          <p:cNvSpPr>
            <a:spLocks/>
          </p:cNvSpPr>
          <p:nvPr/>
        </p:nvSpPr>
        <p:spPr>
          <a:xfrm rot="0">
            <a:off x="685783" y="5098275"/>
            <a:ext cx="10820128" cy="3212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3F1E8"/>
                </a:solidFill>
                <a:latin typeface="Bitter Bold" pitchFamily="34" charset="0"/>
                <a:ea typeface="Bitter Bold" pitchFamily="34" charset="0"/>
                <a:cs typeface="Bitter Bold" pitchFamily="34" charset="0"/>
              </a:rPr>
              <a:t>Investor proposition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矩形"/>
          <p:cNvSpPr>
            <a:spLocks/>
          </p:cNvSpPr>
          <p:nvPr/>
        </p:nvSpPr>
        <p:spPr>
          <a:xfrm rot="0">
            <a:off x="685783" y="5558651"/>
            <a:ext cx="11048724" cy="3130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3F1E8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Fund evidence first.</a:t>
            </a:r>
            <a:r>
              <a:rPr lang="en-US" altLang="zh-CN" sz="1700" b="0" i="0" u="none" strike="noStrike" kern="1200" cap="none" spc="0" baseline="0">
                <a:solidFill>
                  <a:srgbClr val="F3F1E8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 Scale infrastructure only when the economics work.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002453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E5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"/>
          <p:cNvSpPr>
            <a:spLocks/>
          </p:cNvSpPr>
          <p:nvPr/>
        </p:nvSpPr>
        <p:spPr>
          <a:xfrm rot="0">
            <a:off x="5562460" y="431800"/>
            <a:ext cx="6476838" cy="6462117"/>
          </a:xfrm>
          <a:prstGeom prst="rect"/>
          <a:solidFill>
            <a:srgbClr val="0F2B2A">
              <a:alpha val="94000"/>
            </a:srgbClr>
          </a:solidFill>
          <a:ln w="12700" cmpd="sng" cap="flat">
            <a:noFill/>
            <a:prstDash val="solid"/>
            <a:miter/>
          </a:ln>
        </p:spPr>
      </p:sp>
      <p:sp>
        <p:nvSpPr>
          <p:cNvPr id="122" name="矩形"/>
          <p:cNvSpPr>
            <a:spLocks/>
          </p:cNvSpPr>
          <p:nvPr/>
        </p:nvSpPr>
        <p:spPr>
          <a:xfrm rot="0">
            <a:off x="5562460" y="431800"/>
            <a:ext cx="6476838" cy="38100"/>
          </a:xfrm>
          <a:prstGeom prst="rect"/>
          <a:solidFill>
            <a:srgbClr val="7FD8C4"/>
          </a:solidFill>
          <a:ln w="12700" cmpd="sng" cap="flat">
            <a:noFill/>
            <a:prstDash val="solid"/>
            <a:miter/>
          </a:ln>
        </p:spPr>
      </p:sp>
      <p:sp>
        <p:nvSpPr>
          <p:cNvPr id="123" name="矩形"/>
          <p:cNvSpPr>
            <a:spLocks/>
          </p:cNvSpPr>
          <p:nvPr/>
        </p:nvSpPr>
        <p:spPr>
          <a:xfrm rot="0">
            <a:off x="5994250" y="850900"/>
            <a:ext cx="2724479" cy="328116"/>
          </a:xfrm>
          <a:prstGeom prst="rect"/>
          <a:solidFill>
            <a:srgbClr val="FF7F5C"/>
          </a:solidFill>
          <a:ln w="12700" cmpd="sng" cap="flat">
            <a:noFill/>
            <a:prstDash val="solid"/>
            <a:miter/>
          </a:ln>
        </p:spPr>
      </p:sp>
      <p:sp>
        <p:nvSpPr>
          <p:cNvPr id="124" name="矩形"/>
          <p:cNvSpPr>
            <a:spLocks/>
          </p:cNvSpPr>
          <p:nvPr/>
        </p:nvSpPr>
        <p:spPr>
          <a:xfrm rot="0">
            <a:off x="6115094" y="921420"/>
            <a:ext cx="3092372" cy="2072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00" cap="none" spc="14" baseline="0">
                <a:solidFill>
                  <a:srgbClr val="000000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PROPOSED FUTURE SYSTEM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5" name="矩形"/>
          <p:cNvSpPr>
            <a:spLocks/>
          </p:cNvSpPr>
          <p:nvPr/>
        </p:nvSpPr>
        <p:spPr>
          <a:xfrm rot="0">
            <a:off x="5994250" y="1542554"/>
            <a:ext cx="5613260" cy="2641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200" b="0" i="0" u="none" strike="noStrike" kern="100" cap="none" spc="-78" baseline="0">
                <a:solidFill>
                  <a:srgbClr val="FFFFFF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Build the supply chain.</a:t>
            </a:r>
            <a:endParaRPr lang="en-US" altLang="zh-CN" sz="5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200" b="0" i="0" u="none" strike="noStrike" kern="100" cap="none" spc="-78" baseline="0">
                <a:solidFill>
                  <a:srgbClr val="FFFFFF"/>
                </a:solidFill>
                <a:latin typeface="Bitter ExtraBold" pitchFamily="34" charset="0"/>
                <a:ea typeface="Bitter ExtraBold" pitchFamily="34" charset="0"/>
                <a:cs typeface="Bitter ExtraBold" pitchFamily="34" charset="0"/>
              </a:rPr>
              <a:t>Unlock the resource.</a:t>
            </a:r>
            <a:endParaRPr lang="zh-CN" altLang="en-US" sz="5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6" name="矩形"/>
          <p:cNvSpPr>
            <a:spLocks/>
          </p:cNvSpPr>
          <p:nvPr/>
        </p:nvSpPr>
        <p:spPr>
          <a:xfrm rot="0">
            <a:off x="5994250" y="4324965"/>
            <a:ext cx="5613260" cy="93910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FFFFF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ASTRA turns asteroid mining from a one-off extraction mission into a staged, reusable space-resource business.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7" name="矩形"/>
          <p:cNvSpPr>
            <a:spLocks/>
          </p:cNvSpPr>
          <p:nvPr/>
        </p:nvSpPr>
        <p:spPr>
          <a:xfrm rot="0">
            <a:off x="5994250" y="5601353"/>
            <a:ext cx="5613260" cy="2920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Public Sans Bold" pitchFamily="34" charset="0"/>
                <a:ea typeface="Public Sans Bold" pitchFamily="34" charset="0"/>
                <a:cs typeface="Public Sans Bold" pitchFamily="34" charset="0"/>
              </a:rPr>
              <a:t>ASTRA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8" name="矩形"/>
          <p:cNvSpPr>
            <a:spLocks/>
          </p:cNvSpPr>
          <p:nvPr/>
        </p:nvSpPr>
        <p:spPr>
          <a:xfrm rot="0">
            <a:off x="5994250" y="6039564"/>
            <a:ext cx="5613260" cy="4800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Autonomous Space Resource Architecture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FFFF"/>
                </a:solidFill>
                <a:latin typeface="Public Sans" pitchFamily="34" charset="0"/>
                <a:ea typeface="Public Sans" pitchFamily="34" charset="0"/>
                <a:cs typeface="Public Sans" pitchFamily="34" charset="0"/>
              </a:rPr>
              <a:t>Team: [Team name] · Contact: [Email / phone]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52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0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root</cp:lastModifiedBy>
  <cp:revision>1</cp:revision>
  <dcterms:created xsi:type="dcterms:W3CDTF">2026-10-24T05:42:49Z</dcterms:created>
  <dcterms:modified xsi:type="dcterms:W3CDTF">2026-10-25T03:58:02Z</dcterms:modified>
</cp:coreProperties>
</file>